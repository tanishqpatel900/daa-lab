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Working and C Implementation</a:t>
            </a:r>
            <a:endParaRPr lang="en-US" sz="2200" dirty="0"/>
          </a:p>
        </p:txBody>
      </p:sp>
      <p:sp>
        <p:nvSpPr>
          <p:cNvPr id="4" name="topbar"/>
          <p:cNvSpPr/>
          <p:nvPr/>
        </p:nvSpPr>
        <p:spPr>
          <a:xfrm>
            <a:off x="548640" y="283464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footer"/>
          <p:cNvSpPr txBox="1"/>
          <p:nvPr/>
        </p:nvSpPr>
        <p:spPr>
          <a:xfrm>
            <a:off x="548640" y="3108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Tanishq Patel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4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26070521506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Matrix?</a:t>
            </a:r>
            <a:endParaRPr lang="en-US" sz="2600" dirty="0"/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Tanishq Patel  |  26070521506</a:t>
            </a:r>
            <a:endParaRPr lang="en-US" sz="900" dirty="0"/>
          </a:p>
        </p:txBody>
      </p:sp>
      <p:sp>
        <p:nvSpPr>
          <p:cNvPr id="5" name="pageno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6" name="A_bL"/>
          <p:cNvSpPr/>
          <p:nvPr/>
        </p:nvSpPr>
        <p:spPr>
          <a:xfrm>
            <a:off x="457200" y="1417320"/>
            <a:ext cx="54864" cy="8595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7" name="A_bR"/>
          <p:cNvSpPr/>
          <p:nvPr/>
        </p:nvSpPr>
        <p:spPr>
          <a:xfrm>
            <a:off x="1956816" y="1417320"/>
            <a:ext cx="54864" cy="8595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A_0_0"/>
          <p:cNvSpPr txBox="1"/>
          <p:nvPr/>
        </p:nvSpPr>
        <p:spPr>
          <a:xfrm>
            <a:off x="548640" y="1463040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A_0_1"/>
          <p:cNvSpPr txBox="1"/>
          <p:nvPr/>
        </p:nvSpPr>
        <p:spPr>
          <a:xfrm>
            <a:off x="1005840" y="1463040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A_0_2"/>
          <p:cNvSpPr txBox="1"/>
          <p:nvPr/>
        </p:nvSpPr>
        <p:spPr>
          <a:xfrm>
            <a:off x="1463040" y="1463040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A_1_0"/>
          <p:cNvSpPr txBox="1"/>
          <p:nvPr/>
        </p:nvSpPr>
        <p:spPr>
          <a:xfrm>
            <a:off x="54864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A_1_1"/>
          <p:cNvSpPr txBox="1"/>
          <p:nvPr/>
        </p:nvSpPr>
        <p:spPr>
          <a:xfrm>
            <a:off x="100584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A_1_2"/>
          <p:cNvSpPr txBox="1"/>
          <p:nvPr/>
        </p:nvSpPr>
        <p:spPr>
          <a:xfrm>
            <a:off x="146304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4" name="B_bL"/>
          <p:cNvSpPr/>
          <p:nvPr/>
        </p:nvSpPr>
        <p:spPr>
          <a:xfrm>
            <a:off x="2834640" y="1417320"/>
            <a:ext cx="54864" cy="124358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5" name="B_bR"/>
          <p:cNvSpPr/>
          <p:nvPr/>
        </p:nvSpPr>
        <p:spPr>
          <a:xfrm>
            <a:off x="3877056" y="1417320"/>
            <a:ext cx="54864" cy="124358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6" name="B_0_0"/>
          <p:cNvSpPr txBox="1"/>
          <p:nvPr/>
        </p:nvSpPr>
        <p:spPr>
          <a:xfrm>
            <a:off x="2926080" y="1463040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7" name="B_0_1"/>
          <p:cNvSpPr txBox="1"/>
          <p:nvPr/>
        </p:nvSpPr>
        <p:spPr>
          <a:xfrm>
            <a:off x="3383280" y="1463040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8" name="B_1_0"/>
          <p:cNvSpPr txBox="1"/>
          <p:nvPr/>
        </p:nvSpPr>
        <p:spPr>
          <a:xfrm>
            <a:off x="292608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9" name="B_1_1"/>
          <p:cNvSpPr txBox="1"/>
          <p:nvPr/>
        </p:nvSpPr>
        <p:spPr>
          <a:xfrm>
            <a:off x="338328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B_2_0"/>
          <p:cNvSpPr txBox="1"/>
          <p:nvPr/>
        </p:nvSpPr>
        <p:spPr>
          <a:xfrm>
            <a:off x="2926080" y="2231136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1" name="B_2_1"/>
          <p:cNvSpPr txBox="1"/>
          <p:nvPr/>
        </p:nvSpPr>
        <p:spPr>
          <a:xfrm>
            <a:off x="3383280" y="2231136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2" name="Alabel"/>
          <p:cNvSpPr txBox="1"/>
          <p:nvPr/>
        </p:nvSpPr>
        <p:spPr>
          <a:xfrm>
            <a:off x="54864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(2 × 3)</a:t>
            </a:r>
            <a:endParaRPr lang="en-US" sz="1300" dirty="0"/>
          </a:p>
        </p:txBody>
      </p:sp>
      <p:sp>
        <p:nvSpPr>
          <p:cNvPr id="23" name="Blabel"/>
          <p:cNvSpPr txBox="1"/>
          <p:nvPr/>
        </p:nvSpPr>
        <p:spPr>
          <a:xfrm>
            <a:off x="292608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(3 × 2)</a:t>
            </a:r>
            <a:endParaRPr lang="en-US" sz="1300" dirty="0"/>
          </a:p>
        </p:txBody>
      </p:sp>
      <p:sp>
        <p:nvSpPr>
          <p:cNvPr id="24" name="rc"/>
          <p:cNvSpPr txBox="1"/>
          <p:nvPr/>
        </p:nvSpPr>
        <p:spPr>
          <a:xfrm>
            <a:off x="5486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rows ↓      3 columns →</a:t>
            </a:r>
            <a:endParaRPr lang="en-US" sz="1200" dirty="0"/>
          </a:p>
        </p:txBody>
      </p:sp>
      <p:sp>
        <p:nvSpPr>
          <p:cNvPr id="25" name="body"/>
          <p:cNvSpPr txBox="1"/>
          <p:nvPr/>
        </p:nvSpPr>
        <p:spPr>
          <a:xfrm>
            <a:off x="4846320" y="13716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is a rectangular arrangement of numbers in rows and columns.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= m × n  (m rows, n columns).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has a position: A[i][j]  (i = row, j = column).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C, indexing is zero-based: A[0][0] is the first element.</a:t>
            </a:r>
            <a:endParaRPr lang="en-US" sz="1300" dirty="0"/>
          </a:p>
        </p:txBody>
      </p:sp>
      <p:sp>
        <p:nvSpPr>
          <p:cNvPr id="26" name="tag"/>
          <p:cNvSpPr txBox="1"/>
          <p:nvPr/>
        </p:nvSpPr>
        <p:spPr>
          <a:xfrm>
            <a:off x="548640" y="3611880"/>
            <a:ext cx="2194560" cy="457200"/>
          </a:xfrm>
          <a:prstGeom prst="rect">
            <a:avLst/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A[1][2] = 6</a:t>
            </a:r>
            <a:endParaRPr lang="en-US" sz="1600" dirty="0"/>
          </a:p>
        </p:txBody>
      </p:sp>
      <p:sp>
        <p:nvSpPr>
          <p:cNvPr id="27" name="tagnote"/>
          <p:cNvSpPr txBox="1"/>
          <p:nvPr/>
        </p:nvSpPr>
        <p:spPr>
          <a:xfrm>
            <a:off x="2834640" y="3685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1, column 2 (counting from 0)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Multiplication: The Rule</a:t>
            </a:r>
            <a:endParaRPr lang="en-US" sz="2600" dirty="0"/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Tanishq Patel  |  26070521506</a:t>
            </a:r>
            <a:endParaRPr lang="en-US" sz="900" dirty="0"/>
          </a:p>
        </p:txBody>
      </p:sp>
      <p:sp>
        <p:nvSpPr>
          <p:cNvPr id="5" name="pageno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6" name="body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element-by-element. </a:t>
            </a:r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of C = A × B is one ROW of A multiplied with one COLUMN of B, and the products are added.</a:t>
            </a:r>
            <a:endParaRPr lang="en-US" sz="1400" dirty="0"/>
          </a:p>
        </p:txBody>
      </p:sp>
      <p:sp>
        <p:nvSpPr>
          <p:cNvPr id="7" name="boxA"/>
          <p:cNvSpPr txBox="1"/>
          <p:nvPr/>
        </p:nvSpPr>
        <p:spPr>
          <a:xfrm>
            <a:off x="457200" y="1828800"/>
            <a:ext cx="2011680" cy="64008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(m × n)</a:t>
            </a:r>
            <a:endParaRPr lang="en-US" sz="2000" dirty="0"/>
          </a:p>
        </p:txBody>
      </p:sp>
      <p:sp>
        <p:nvSpPr>
          <p:cNvPr id="8" name="times"/>
          <p:cNvSpPr txBox="1"/>
          <p:nvPr/>
        </p:nvSpPr>
        <p:spPr>
          <a:xfrm>
            <a:off x="256032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400" dirty="0"/>
          </a:p>
        </p:txBody>
      </p:sp>
      <p:sp>
        <p:nvSpPr>
          <p:cNvPr id="9" name="boxB"/>
          <p:cNvSpPr txBox="1"/>
          <p:nvPr/>
        </p:nvSpPr>
        <p:spPr>
          <a:xfrm>
            <a:off x="3017520" y="1828800"/>
            <a:ext cx="2011680" cy="64008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(n × p)</a:t>
            </a:r>
            <a:endParaRPr lang="en-US" sz="2000" dirty="0"/>
          </a:p>
        </p:txBody>
      </p:sp>
      <p:sp>
        <p:nvSpPr>
          <p:cNvPr id="10" name="eq"/>
          <p:cNvSpPr txBox="1"/>
          <p:nvPr/>
        </p:nvSpPr>
        <p:spPr>
          <a:xfrm>
            <a:off x="512064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400" dirty="0"/>
          </a:p>
        </p:txBody>
      </p:sp>
      <p:sp>
        <p:nvSpPr>
          <p:cNvPr id="11" name="boxC"/>
          <p:cNvSpPr txBox="1"/>
          <p:nvPr/>
        </p:nvSpPr>
        <p:spPr>
          <a:xfrm>
            <a:off x="5577840" y="1828800"/>
            <a:ext cx="2011680" cy="64008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(m × p)</a:t>
            </a:r>
            <a:endParaRPr lang="en-US" sz="2000" dirty="0"/>
          </a:p>
        </p:txBody>
      </p:sp>
      <p:sp>
        <p:nvSpPr>
          <p:cNvPr id="12" name="l1"/>
          <p:cNvSpPr/>
          <p:nvPr/>
        </p:nvSpPr>
        <p:spPr>
          <a:xfrm>
            <a:off x="1828800" y="251460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3" name="l2"/>
          <p:cNvSpPr/>
          <p:nvPr/>
        </p:nvSpPr>
        <p:spPr>
          <a:xfrm>
            <a:off x="1828800" y="2788920"/>
            <a:ext cx="1371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l3"/>
          <p:cNvSpPr/>
          <p:nvPr/>
        </p:nvSpPr>
        <p:spPr>
          <a:xfrm>
            <a:off x="3200400" y="251460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none"/>
          </a:ln>
        </p:spPr>
      </p:sp>
      <p:sp>
        <p:nvSpPr>
          <p:cNvPr id="15" name="innernote"/>
          <p:cNvSpPr txBox="1"/>
          <p:nvPr/>
        </p:nvSpPr>
        <p:spPr>
          <a:xfrm>
            <a:off x="182880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n = n  → must match</a:t>
            </a:r>
            <a:endParaRPr lang="en-US" sz="1200" dirty="0"/>
          </a:p>
        </p:txBody>
      </p:sp>
      <p:sp>
        <p:nvSpPr>
          <p:cNvPr id="16" name="cond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of A = Rows of B.  Outer values m and p give the size of C.</a:t>
            </a:r>
            <a:endParaRPr lang="en-US" sz="1400" dirty="0"/>
          </a:p>
        </p:txBody>
      </p:sp>
      <p:sp>
        <p:nvSpPr>
          <p:cNvPr id="17" name="ok"/>
          <p:cNvSpPr txBox="1"/>
          <p:nvPr/>
        </p:nvSpPr>
        <p:spPr>
          <a:xfrm>
            <a:off x="457200" y="3749040"/>
            <a:ext cx="3931920" cy="502920"/>
          </a:xfrm>
          <a:prstGeom prst="rect">
            <a:avLst/>
          </a:prstGeom>
          <a:solidFill>
            <a:srgbClr val="CCFB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(2 × 3) × (3 × 2) = (2 × 2)</a:t>
            </a:r>
            <a:endParaRPr lang="en-US" sz="1500" dirty="0"/>
          </a:p>
        </p:txBody>
      </p:sp>
      <p:sp>
        <p:nvSpPr>
          <p:cNvPr id="18" name="bad"/>
          <p:cNvSpPr txBox="1"/>
          <p:nvPr/>
        </p:nvSpPr>
        <p:spPr>
          <a:xfrm>
            <a:off x="4572000" y="3749040"/>
            <a:ext cx="4114800" cy="502920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(2 × 3) × (2 × 2):  3 ≠ 2, invalid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First Element</a:t>
            </a:r>
            <a:endParaRPr lang="en-US" sz="2600" dirty="0"/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Tanishq Patel  |  26070521506</a:t>
            </a:r>
            <a:endParaRPr lang="en-US" sz="900" dirty="0"/>
          </a:p>
        </p:txBody>
      </p:sp>
      <p:sp>
        <p:nvSpPr>
          <p:cNvPr id="5" name="pageno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6" name="A_bL"/>
          <p:cNvSpPr/>
          <p:nvPr/>
        </p:nvSpPr>
        <p:spPr>
          <a:xfrm>
            <a:off x="457200" y="1417320"/>
            <a:ext cx="54864" cy="8595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7" name="A_bR"/>
          <p:cNvSpPr/>
          <p:nvPr/>
        </p:nvSpPr>
        <p:spPr>
          <a:xfrm>
            <a:off x="1956816" y="1417320"/>
            <a:ext cx="54864" cy="8595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A_0_0"/>
          <p:cNvSpPr txBox="1"/>
          <p:nvPr/>
        </p:nvSpPr>
        <p:spPr>
          <a:xfrm>
            <a:off x="548640" y="1463040"/>
            <a:ext cx="420624" cy="34747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A_0_1"/>
          <p:cNvSpPr txBox="1"/>
          <p:nvPr/>
        </p:nvSpPr>
        <p:spPr>
          <a:xfrm>
            <a:off x="1005840" y="1463040"/>
            <a:ext cx="420624" cy="34747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A_0_2"/>
          <p:cNvSpPr txBox="1"/>
          <p:nvPr/>
        </p:nvSpPr>
        <p:spPr>
          <a:xfrm>
            <a:off x="1463040" y="1463040"/>
            <a:ext cx="420624" cy="34747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A_1_0"/>
          <p:cNvSpPr txBox="1"/>
          <p:nvPr/>
        </p:nvSpPr>
        <p:spPr>
          <a:xfrm>
            <a:off x="54864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A_1_1"/>
          <p:cNvSpPr txBox="1"/>
          <p:nvPr/>
        </p:nvSpPr>
        <p:spPr>
          <a:xfrm>
            <a:off x="100584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A_1_2"/>
          <p:cNvSpPr txBox="1"/>
          <p:nvPr/>
        </p:nvSpPr>
        <p:spPr>
          <a:xfrm>
            <a:off x="146304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4" name="B_bL"/>
          <p:cNvSpPr/>
          <p:nvPr/>
        </p:nvSpPr>
        <p:spPr>
          <a:xfrm>
            <a:off x="2834640" y="1417320"/>
            <a:ext cx="54864" cy="124358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5" name="B_bR"/>
          <p:cNvSpPr/>
          <p:nvPr/>
        </p:nvSpPr>
        <p:spPr>
          <a:xfrm>
            <a:off x="3877056" y="1417320"/>
            <a:ext cx="54864" cy="124358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6" name="B_0_0"/>
          <p:cNvSpPr txBox="1"/>
          <p:nvPr/>
        </p:nvSpPr>
        <p:spPr>
          <a:xfrm>
            <a:off x="2926080" y="1463040"/>
            <a:ext cx="420624" cy="34747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7" name="B_0_1"/>
          <p:cNvSpPr txBox="1"/>
          <p:nvPr/>
        </p:nvSpPr>
        <p:spPr>
          <a:xfrm>
            <a:off x="3383280" y="1463040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8" name="B_1_0"/>
          <p:cNvSpPr txBox="1"/>
          <p:nvPr/>
        </p:nvSpPr>
        <p:spPr>
          <a:xfrm>
            <a:off x="2926080" y="1847088"/>
            <a:ext cx="420624" cy="34747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9" name="B_1_1"/>
          <p:cNvSpPr txBox="1"/>
          <p:nvPr/>
        </p:nvSpPr>
        <p:spPr>
          <a:xfrm>
            <a:off x="338328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B_2_0"/>
          <p:cNvSpPr txBox="1"/>
          <p:nvPr/>
        </p:nvSpPr>
        <p:spPr>
          <a:xfrm>
            <a:off x="2926080" y="2231136"/>
            <a:ext cx="420624" cy="34747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1" name="B_2_1"/>
          <p:cNvSpPr txBox="1"/>
          <p:nvPr/>
        </p:nvSpPr>
        <p:spPr>
          <a:xfrm>
            <a:off x="3383280" y="2231136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2" name="C_bL"/>
          <p:cNvSpPr/>
          <p:nvPr/>
        </p:nvSpPr>
        <p:spPr>
          <a:xfrm>
            <a:off x="4937760" y="1417320"/>
            <a:ext cx="54864" cy="8595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3" name="C_bR"/>
          <p:cNvSpPr/>
          <p:nvPr/>
        </p:nvSpPr>
        <p:spPr>
          <a:xfrm>
            <a:off x="5980176" y="1417320"/>
            <a:ext cx="54864" cy="8595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4" name="C_0_0"/>
          <p:cNvSpPr txBox="1"/>
          <p:nvPr/>
        </p:nvSpPr>
        <p:spPr>
          <a:xfrm>
            <a:off x="5029200" y="1463040"/>
            <a:ext cx="420624" cy="347472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C_0_1"/>
          <p:cNvSpPr txBox="1"/>
          <p:nvPr/>
        </p:nvSpPr>
        <p:spPr>
          <a:xfrm>
            <a:off x="5486400" y="1463040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6" name="C_1_0"/>
          <p:cNvSpPr txBox="1"/>
          <p:nvPr/>
        </p:nvSpPr>
        <p:spPr>
          <a:xfrm>
            <a:off x="502920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7" name="C_1_1"/>
          <p:cNvSpPr txBox="1"/>
          <p:nvPr/>
        </p:nvSpPr>
        <p:spPr>
          <a:xfrm>
            <a:off x="548640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Alabel"/>
          <p:cNvSpPr txBox="1"/>
          <p:nvPr/>
        </p:nvSpPr>
        <p:spPr>
          <a:xfrm>
            <a:off x="54864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(2 × 3)</a:t>
            </a:r>
            <a:endParaRPr lang="en-US" sz="1300" dirty="0"/>
          </a:p>
        </p:txBody>
      </p:sp>
      <p:sp>
        <p:nvSpPr>
          <p:cNvPr id="29" name="Blabel"/>
          <p:cNvSpPr txBox="1"/>
          <p:nvPr/>
        </p:nvSpPr>
        <p:spPr>
          <a:xfrm>
            <a:off x="292608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(3 × 2)</a:t>
            </a:r>
            <a:endParaRPr lang="en-US" sz="1300" dirty="0"/>
          </a:p>
        </p:txBody>
      </p:sp>
      <p:sp>
        <p:nvSpPr>
          <p:cNvPr id="30" name="Clabel"/>
          <p:cNvSpPr txBox="1"/>
          <p:nvPr/>
        </p:nvSpPr>
        <p:spPr>
          <a:xfrm>
            <a:off x="502920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(2 × 2)</a:t>
            </a:r>
            <a:endParaRPr lang="en-US" sz="1300" dirty="0"/>
          </a:p>
        </p:txBody>
      </p:sp>
      <p:sp>
        <p:nvSpPr>
          <p:cNvPr id="31" name="times"/>
          <p:cNvSpPr txBox="1"/>
          <p:nvPr/>
        </p:nvSpPr>
        <p:spPr>
          <a:xfrm>
            <a:off x="233172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32" name="eq"/>
          <p:cNvSpPr txBox="1"/>
          <p:nvPr/>
        </p:nvSpPr>
        <p:spPr>
          <a:xfrm>
            <a:off x="443484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33" name="f1"/>
          <p:cNvSpPr txBox="1"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C[0][0] = </a:t>
            </a:r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(1×7)</a:t>
            </a:r>
            <a:pPr indent="0" marL="0">
              <a:buNone/>
            </a:pPr>
            <a:r>
              <a:rPr lang="en-US" sz="17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(2×9)</a:t>
            </a:r>
            <a:pPr indent="0" marL="0">
              <a:buNone/>
            </a:pPr>
            <a:r>
              <a:rPr lang="en-US" sz="17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(3×11)</a:t>
            </a:r>
            <a:endParaRPr lang="en-US" sz="1700" dirty="0"/>
          </a:p>
        </p:txBody>
      </p:sp>
      <p:sp>
        <p:nvSpPr>
          <p:cNvPr id="34" name="f2"/>
          <p:cNvSpPr txBox="1"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7 + 18 + 33 = 58</a:t>
            </a:r>
            <a:endParaRPr lang="en-US" sz="1700" dirty="0"/>
          </a:p>
        </p:txBody>
      </p:sp>
      <p:sp>
        <p:nvSpPr>
          <p:cNvPr id="35" name="legend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= row 0 of A     Amber = column 0 of B     Teal = result position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All Elements</a:t>
            </a:r>
            <a:endParaRPr lang="en-US" sz="2600" dirty="0"/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Tanishq Patel  |  26070521506</a:t>
            </a:r>
            <a:endParaRPr lang="en-US" sz="900" dirty="0"/>
          </a:p>
        </p:txBody>
      </p:sp>
      <p:sp>
        <p:nvSpPr>
          <p:cNvPr id="5" name="pageno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6" name="A_bL"/>
          <p:cNvSpPr/>
          <p:nvPr/>
        </p:nvSpPr>
        <p:spPr>
          <a:xfrm>
            <a:off x="457200" y="1417320"/>
            <a:ext cx="54864" cy="8595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7" name="A_bR"/>
          <p:cNvSpPr/>
          <p:nvPr/>
        </p:nvSpPr>
        <p:spPr>
          <a:xfrm>
            <a:off x="1956816" y="1417320"/>
            <a:ext cx="54864" cy="8595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A_0_0"/>
          <p:cNvSpPr txBox="1"/>
          <p:nvPr/>
        </p:nvSpPr>
        <p:spPr>
          <a:xfrm>
            <a:off x="548640" y="1463040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A_0_1"/>
          <p:cNvSpPr txBox="1"/>
          <p:nvPr/>
        </p:nvSpPr>
        <p:spPr>
          <a:xfrm>
            <a:off x="1005840" y="1463040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A_0_2"/>
          <p:cNvSpPr txBox="1"/>
          <p:nvPr/>
        </p:nvSpPr>
        <p:spPr>
          <a:xfrm>
            <a:off x="1463040" y="1463040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A_1_0"/>
          <p:cNvSpPr txBox="1"/>
          <p:nvPr/>
        </p:nvSpPr>
        <p:spPr>
          <a:xfrm>
            <a:off x="54864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A_1_1"/>
          <p:cNvSpPr txBox="1"/>
          <p:nvPr/>
        </p:nvSpPr>
        <p:spPr>
          <a:xfrm>
            <a:off x="100584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A_1_2"/>
          <p:cNvSpPr txBox="1"/>
          <p:nvPr/>
        </p:nvSpPr>
        <p:spPr>
          <a:xfrm>
            <a:off x="146304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4" name="B_bL"/>
          <p:cNvSpPr/>
          <p:nvPr/>
        </p:nvSpPr>
        <p:spPr>
          <a:xfrm>
            <a:off x="2834640" y="1417320"/>
            <a:ext cx="54864" cy="124358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5" name="B_bR"/>
          <p:cNvSpPr/>
          <p:nvPr/>
        </p:nvSpPr>
        <p:spPr>
          <a:xfrm>
            <a:off x="3877056" y="1417320"/>
            <a:ext cx="54864" cy="124358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6" name="B_0_0"/>
          <p:cNvSpPr txBox="1"/>
          <p:nvPr/>
        </p:nvSpPr>
        <p:spPr>
          <a:xfrm>
            <a:off x="2926080" y="1463040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7" name="B_0_1"/>
          <p:cNvSpPr txBox="1"/>
          <p:nvPr/>
        </p:nvSpPr>
        <p:spPr>
          <a:xfrm>
            <a:off x="3383280" y="1463040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8" name="B_1_0"/>
          <p:cNvSpPr txBox="1"/>
          <p:nvPr/>
        </p:nvSpPr>
        <p:spPr>
          <a:xfrm>
            <a:off x="292608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9" name="B_1_1"/>
          <p:cNvSpPr txBox="1"/>
          <p:nvPr/>
        </p:nvSpPr>
        <p:spPr>
          <a:xfrm>
            <a:off x="3383280" y="1847088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B_2_0"/>
          <p:cNvSpPr txBox="1"/>
          <p:nvPr/>
        </p:nvSpPr>
        <p:spPr>
          <a:xfrm>
            <a:off x="2926080" y="2231136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1" name="B_2_1"/>
          <p:cNvSpPr txBox="1"/>
          <p:nvPr/>
        </p:nvSpPr>
        <p:spPr>
          <a:xfrm>
            <a:off x="3383280" y="2231136"/>
            <a:ext cx="420624" cy="347472"/>
          </a:xfrm>
          <a:prstGeom prst="rect">
            <a:avLst/>
          </a:prstGeom>
          <a:solidFill>
            <a:srgbClr val="E4E0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2" name="C_bL"/>
          <p:cNvSpPr/>
          <p:nvPr/>
        </p:nvSpPr>
        <p:spPr>
          <a:xfrm>
            <a:off x="4937760" y="1417320"/>
            <a:ext cx="54864" cy="8595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3" name="C_bR"/>
          <p:cNvSpPr/>
          <p:nvPr/>
        </p:nvSpPr>
        <p:spPr>
          <a:xfrm>
            <a:off x="5980176" y="1417320"/>
            <a:ext cx="54864" cy="8595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4" name="C_0_0"/>
          <p:cNvSpPr txBox="1"/>
          <p:nvPr/>
        </p:nvSpPr>
        <p:spPr>
          <a:xfrm>
            <a:off x="5029200" y="1463040"/>
            <a:ext cx="420624" cy="347472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400" dirty="0"/>
          </a:p>
        </p:txBody>
      </p:sp>
      <p:sp>
        <p:nvSpPr>
          <p:cNvPr id="25" name="C_0_1"/>
          <p:cNvSpPr txBox="1"/>
          <p:nvPr/>
        </p:nvSpPr>
        <p:spPr>
          <a:xfrm>
            <a:off x="5486400" y="1463040"/>
            <a:ext cx="420624" cy="347472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400" dirty="0"/>
          </a:p>
        </p:txBody>
      </p:sp>
      <p:sp>
        <p:nvSpPr>
          <p:cNvPr id="26" name="C_1_0"/>
          <p:cNvSpPr txBox="1"/>
          <p:nvPr/>
        </p:nvSpPr>
        <p:spPr>
          <a:xfrm>
            <a:off x="5029200" y="1847088"/>
            <a:ext cx="420624" cy="347472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</a:t>
            </a:r>
            <a:endParaRPr lang="en-US" sz="1400" dirty="0"/>
          </a:p>
        </p:txBody>
      </p:sp>
      <p:sp>
        <p:nvSpPr>
          <p:cNvPr id="27" name="C_1_1"/>
          <p:cNvSpPr txBox="1"/>
          <p:nvPr/>
        </p:nvSpPr>
        <p:spPr>
          <a:xfrm>
            <a:off x="5486400" y="1847088"/>
            <a:ext cx="420624" cy="347472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1400" dirty="0"/>
          </a:p>
        </p:txBody>
      </p:sp>
      <p:sp>
        <p:nvSpPr>
          <p:cNvPr id="28" name="Alabel"/>
          <p:cNvSpPr txBox="1"/>
          <p:nvPr/>
        </p:nvSpPr>
        <p:spPr>
          <a:xfrm>
            <a:off x="54864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(2 × 3)</a:t>
            </a:r>
            <a:endParaRPr lang="en-US" sz="1300" dirty="0"/>
          </a:p>
        </p:txBody>
      </p:sp>
      <p:sp>
        <p:nvSpPr>
          <p:cNvPr id="29" name="Blabel"/>
          <p:cNvSpPr txBox="1"/>
          <p:nvPr/>
        </p:nvSpPr>
        <p:spPr>
          <a:xfrm>
            <a:off x="292608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(3 × 2)</a:t>
            </a:r>
            <a:endParaRPr lang="en-US" sz="1300" dirty="0"/>
          </a:p>
        </p:txBody>
      </p:sp>
      <p:sp>
        <p:nvSpPr>
          <p:cNvPr id="30" name="Clabel"/>
          <p:cNvSpPr txBox="1"/>
          <p:nvPr/>
        </p:nvSpPr>
        <p:spPr>
          <a:xfrm>
            <a:off x="502920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(2 × 2)</a:t>
            </a:r>
            <a:endParaRPr lang="en-US" sz="1300" dirty="0"/>
          </a:p>
        </p:txBody>
      </p:sp>
      <p:sp>
        <p:nvSpPr>
          <p:cNvPr id="31" name="times"/>
          <p:cNvSpPr txBox="1"/>
          <p:nvPr/>
        </p:nvSpPr>
        <p:spPr>
          <a:xfrm>
            <a:off x="233172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32" name="eq"/>
          <p:cNvSpPr txBox="1"/>
          <p:nvPr/>
        </p:nvSpPr>
        <p:spPr>
          <a:xfrm>
            <a:off x="443484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33" name="f1_bg"/>
          <p:cNvSpPr/>
          <p:nvPr/>
        </p:nvSpPr>
        <p:spPr>
          <a:xfrm>
            <a:off x="548640" y="3218688"/>
            <a:ext cx="5852160" cy="1152144"/>
          </a:xfrm>
          <a:prstGeom prst="roundRect">
            <a:avLst>
              <a:gd name="adj" fmla="val 4762"/>
            </a:avLst>
          </a:prstGeom>
          <a:solidFill>
            <a:srgbClr val="F0ECFB"/>
          </a:solidFill>
          <a:ln w="9525">
            <a:solidFill>
              <a:srgbClr val="CFC8EA"/>
            </a:solidFill>
            <a:prstDash val="solid"/>
          </a:ln>
        </p:spPr>
      </p:sp>
      <p:sp>
        <p:nvSpPr>
          <p:cNvPr id="34" name="f1"/>
          <p:cNvSpPr txBox="1"/>
          <p:nvPr/>
        </p:nvSpPr>
        <p:spPr>
          <a:xfrm>
            <a:off x="640080" y="32918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C[0][0] = 1×7 + 2×9  + 3×11 =  58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C[0][1] = 1×8 + 2×10 + 3×12 =  64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C[1][0] = 4×7 + 5×9  + 6×11 = 139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C[1][1] = 4×8 + 5×10 + 6×12 = 154</a:t>
            </a:r>
            <a:endParaRPr lang="en-US" sz="1300" dirty="0"/>
          </a:p>
        </p:txBody>
      </p:sp>
      <p:sp>
        <p:nvSpPr>
          <p:cNvPr id="35" name="note"/>
          <p:cNvSpPr txBox="1"/>
          <p:nvPr/>
        </p:nvSpPr>
        <p:spPr>
          <a:xfrm>
            <a:off x="658368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size = outer dimensions = 2 × 2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 Algorithm</a:t>
            </a:r>
            <a:endParaRPr lang="en-US" sz="2600" dirty="0"/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Tanishq Patel  |  26070521506</a:t>
            </a:r>
            <a:endParaRPr lang="en-US" sz="900" dirty="0"/>
          </a:p>
        </p:txBody>
      </p:sp>
      <p:sp>
        <p:nvSpPr>
          <p:cNvPr id="5" name="pageno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6" name="num0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numt0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0"/>
          <p:cNvSpPr txBox="1"/>
          <p:nvPr/>
        </p:nvSpPr>
        <p:spPr>
          <a:xfrm>
            <a:off x="960120" y="1051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dimensions m, n of A and its elements.</a:t>
            </a:r>
            <a:endParaRPr lang="en-US" sz="1300" dirty="0"/>
          </a:p>
        </p:txBody>
      </p:sp>
      <p:sp>
        <p:nvSpPr>
          <p:cNvPr id="9" name="num1"/>
          <p:cNvSpPr/>
          <p:nvPr/>
        </p:nvSpPr>
        <p:spPr>
          <a:xfrm>
            <a:off x="457200" y="1764792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numt1"/>
          <p:cNvSpPr txBox="1"/>
          <p:nvPr/>
        </p:nvSpPr>
        <p:spPr>
          <a:xfrm>
            <a:off x="4572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1"/>
          <p:cNvSpPr txBox="1"/>
          <p:nvPr/>
        </p:nvSpPr>
        <p:spPr>
          <a:xfrm>
            <a:off x="960120" y="1764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dimensions n2, p of B.</a:t>
            </a:r>
            <a:endParaRPr lang="en-US" sz="1300" dirty="0"/>
          </a:p>
        </p:txBody>
      </p:sp>
      <p:sp>
        <p:nvSpPr>
          <p:cNvPr id="12" name="num2"/>
          <p:cNvSpPr/>
          <p:nvPr/>
        </p:nvSpPr>
        <p:spPr>
          <a:xfrm>
            <a:off x="457200" y="247802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numt2"/>
          <p:cNvSpPr txBox="1"/>
          <p:nvPr/>
        </p:nvSpPr>
        <p:spPr>
          <a:xfrm>
            <a:off x="45720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2"/>
          <p:cNvSpPr txBox="1"/>
          <p:nvPr/>
        </p:nvSpPr>
        <p:spPr>
          <a:xfrm>
            <a:off x="960120" y="24780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columns of A (n) = rows of B (n2)?</a:t>
            </a:r>
            <a:endParaRPr lang="en-US" sz="1300" dirty="0"/>
          </a:p>
        </p:txBody>
      </p:sp>
      <p:sp>
        <p:nvSpPr>
          <p:cNvPr id="15" name="num3"/>
          <p:cNvSpPr/>
          <p:nvPr/>
        </p:nvSpPr>
        <p:spPr>
          <a:xfrm>
            <a:off x="457200" y="319125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numt3"/>
          <p:cNvSpPr txBox="1"/>
          <p:nvPr/>
        </p:nvSpPr>
        <p:spPr>
          <a:xfrm>
            <a:off x="45720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3"/>
          <p:cNvSpPr txBox="1"/>
          <p:nvPr/>
        </p:nvSpPr>
        <p:spPr>
          <a:xfrm>
            <a:off x="960120" y="31912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equal → multiplication is invalid; stop.</a:t>
            </a:r>
            <a:endParaRPr lang="en-US" sz="1300" dirty="0"/>
          </a:p>
        </p:txBody>
      </p:sp>
      <p:sp>
        <p:nvSpPr>
          <p:cNvPr id="18" name="num4"/>
          <p:cNvSpPr/>
          <p:nvPr/>
        </p:nvSpPr>
        <p:spPr>
          <a:xfrm>
            <a:off x="457200" y="390448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numt4"/>
          <p:cNvSpPr txBox="1"/>
          <p:nvPr/>
        </p:nvSpPr>
        <p:spPr>
          <a:xfrm>
            <a:off x="45720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step4"/>
          <p:cNvSpPr txBox="1"/>
          <p:nvPr/>
        </p:nvSpPr>
        <p:spPr>
          <a:xfrm>
            <a:off x="960120" y="3904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elements of B.</a:t>
            </a:r>
            <a:endParaRPr lang="en-US" sz="1300" dirty="0"/>
          </a:p>
        </p:txBody>
      </p:sp>
      <p:sp>
        <p:nvSpPr>
          <p:cNvPr id="21" name="num5"/>
          <p:cNvSpPr/>
          <p:nvPr/>
        </p:nvSpPr>
        <p:spPr>
          <a:xfrm>
            <a:off x="4663440" y="105156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numt5"/>
          <p:cNvSpPr txBox="1"/>
          <p:nvPr/>
        </p:nvSpPr>
        <p:spPr>
          <a:xfrm>
            <a:off x="46634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step5"/>
          <p:cNvSpPr txBox="1"/>
          <p:nvPr/>
        </p:nvSpPr>
        <p:spPr>
          <a:xfrm>
            <a:off x="5166360" y="1051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result matrix C (m × p).</a:t>
            </a:r>
            <a:endParaRPr lang="en-US" sz="1300" dirty="0"/>
          </a:p>
        </p:txBody>
      </p:sp>
      <p:sp>
        <p:nvSpPr>
          <p:cNvPr id="24" name="num6"/>
          <p:cNvSpPr/>
          <p:nvPr/>
        </p:nvSpPr>
        <p:spPr>
          <a:xfrm>
            <a:off x="4663440" y="1764792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numt6"/>
          <p:cNvSpPr txBox="1"/>
          <p:nvPr/>
        </p:nvSpPr>
        <p:spPr>
          <a:xfrm>
            <a:off x="466344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step6"/>
          <p:cNvSpPr txBox="1"/>
          <p:nvPr/>
        </p:nvSpPr>
        <p:spPr>
          <a:xfrm>
            <a:off x="5166360" y="1764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position C[i][j], set it to 0.</a:t>
            </a:r>
            <a:endParaRPr lang="en-US" sz="1300" dirty="0"/>
          </a:p>
        </p:txBody>
      </p:sp>
      <p:sp>
        <p:nvSpPr>
          <p:cNvPr id="27" name="num7"/>
          <p:cNvSpPr/>
          <p:nvPr/>
        </p:nvSpPr>
        <p:spPr>
          <a:xfrm>
            <a:off x="4663440" y="247802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numt7"/>
          <p:cNvSpPr txBox="1"/>
          <p:nvPr/>
        </p:nvSpPr>
        <p:spPr>
          <a:xfrm>
            <a:off x="466344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step7"/>
          <p:cNvSpPr txBox="1"/>
          <p:nvPr/>
        </p:nvSpPr>
        <p:spPr>
          <a:xfrm>
            <a:off x="5166360" y="24780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A[i][k] with B[k][j] for every k.</a:t>
            </a:r>
            <a:endParaRPr lang="en-US" sz="1300" dirty="0"/>
          </a:p>
        </p:txBody>
      </p:sp>
      <p:sp>
        <p:nvSpPr>
          <p:cNvPr id="30" name="num8"/>
          <p:cNvSpPr/>
          <p:nvPr/>
        </p:nvSpPr>
        <p:spPr>
          <a:xfrm>
            <a:off x="4663440" y="3191256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numt8"/>
          <p:cNvSpPr txBox="1"/>
          <p:nvPr/>
        </p:nvSpPr>
        <p:spPr>
          <a:xfrm>
            <a:off x="466344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step8"/>
          <p:cNvSpPr txBox="1"/>
          <p:nvPr/>
        </p:nvSpPr>
        <p:spPr>
          <a:xfrm>
            <a:off x="5166360" y="31912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products to C[i][j].</a:t>
            </a:r>
            <a:endParaRPr lang="en-US" sz="1300" dirty="0"/>
          </a:p>
        </p:txBody>
      </p:sp>
      <p:sp>
        <p:nvSpPr>
          <p:cNvPr id="33" name="num9"/>
          <p:cNvSpPr/>
          <p:nvPr/>
        </p:nvSpPr>
        <p:spPr>
          <a:xfrm>
            <a:off x="4663440" y="390448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numt9"/>
          <p:cNvSpPr txBox="1"/>
          <p:nvPr/>
        </p:nvSpPr>
        <p:spPr>
          <a:xfrm>
            <a:off x="466344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step9"/>
          <p:cNvSpPr txBox="1"/>
          <p:nvPr/>
        </p:nvSpPr>
        <p:spPr>
          <a:xfrm>
            <a:off x="5166360" y="3904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result matrix C.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 (Part 1): Input and Validation</a:t>
            </a:r>
            <a:endParaRPr lang="en-US" sz="2600" dirty="0"/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Tanishq Patel  |  26070521506</a:t>
            </a:r>
            <a:endParaRPr lang="en-US" sz="900" dirty="0"/>
          </a:p>
        </p:txBody>
      </p:sp>
      <p:sp>
        <p:nvSpPr>
          <p:cNvPr id="5" name="pageno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6" name="codeL_bg"/>
          <p:cNvSpPr/>
          <p:nvPr/>
        </p:nvSpPr>
        <p:spPr>
          <a:xfrm>
            <a:off x="457200" y="978408"/>
            <a:ext cx="3931920" cy="2889504"/>
          </a:xfrm>
          <a:prstGeom prst="roundRect">
            <a:avLst>
              <a:gd name="adj" fmla="val 1899"/>
            </a:avLst>
          </a:prstGeom>
          <a:solidFill>
            <a:srgbClr val="F0ECFB"/>
          </a:solidFill>
          <a:ln w="9525">
            <a:solidFill>
              <a:srgbClr val="CFC8EA"/>
            </a:solidFill>
            <a:prstDash val="solid"/>
          </a:ln>
        </p:spPr>
      </p:sp>
      <p:sp>
        <p:nvSpPr>
          <p:cNvPr id="7" name="codeL"/>
          <p:cNvSpPr txBox="1"/>
          <p:nvPr/>
        </p:nvSpPr>
        <p:spPr>
          <a:xfrm>
            <a:off x="548640" y="10515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//26070521506 Tanishq Patel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m, n, n2, 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scanf("%d %d", &amp;m, &amp;n);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A[m][n];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Read Matrix 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m;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j = 0; j &lt; n; j++)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scanf("%d", &amp;A[i][j]);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Read dimensions of Matrix 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scanf("%d %d", &amp;n2, &amp;p);</a:t>
            </a:r>
            <a:endParaRPr lang="en-US" sz="950" dirty="0"/>
          </a:p>
        </p:txBody>
      </p:sp>
      <p:sp>
        <p:nvSpPr>
          <p:cNvPr id="8" name="codeR_bg"/>
          <p:cNvSpPr/>
          <p:nvPr/>
        </p:nvSpPr>
        <p:spPr>
          <a:xfrm>
            <a:off x="4754880" y="978408"/>
            <a:ext cx="3931920" cy="2432304"/>
          </a:xfrm>
          <a:prstGeom prst="roundRect">
            <a:avLst>
              <a:gd name="adj" fmla="val 2256"/>
            </a:avLst>
          </a:prstGeom>
          <a:solidFill>
            <a:srgbClr val="F0ECFB"/>
          </a:solidFill>
          <a:ln w="9525">
            <a:solidFill>
              <a:srgbClr val="CFC8EA"/>
            </a:solidFill>
            <a:prstDash val="solid"/>
          </a:ln>
        </p:spPr>
      </p:sp>
      <p:sp>
        <p:nvSpPr>
          <p:cNvPr id="9" name="codeR"/>
          <p:cNvSpPr txBox="1"/>
          <p:nvPr/>
        </p:nvSpPr>
        <p:spPr>
          <a:xfrm>
            <a:off x="4846320" y="105156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Check whether multiplication is possible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!= n2)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printf("Invalid input");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B[n2][p];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C[m][p];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Read Matrix 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n2;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j = 0; j &lt; p; j++)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scanf("%d", &amp;B[i][j]);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</p:txBody>
      </p:sp>
      <p:sp>
        <p:nvSpPr>
          <p:cNvPr id="10" name="note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m × n   B = n2 × p   C = m × p    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must equal n2 (columns of A = rows of B). Matrices are read row by row: i = row, j = column.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 (Part 2): Multiply and Display</a:t>
            </a:r>
            <a:endParaRPr lang="en-US" sz="2600" dirty="0"/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Tanishq Patel  |  26070521506</a:t>
            </a:r>
            <a:endParaRPr lang="en-US" sz="900" dirty="0"/>
          </a:p>
        </p:txBody>
      </p:sp>
      <p:sp>
        <p:nvSpPr>
          <p:cNvPr id="5" name="pageno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6" name="codeL_bg"/>
          <p:cNvSpPr/>
          <p:nvPr/>
        </p:nvSpPr>
        <p:spPr>
          <a:xfrm>
            <a:off x="457200" y="978408"/>
            <a:ext cx="4754880" cy="1837944"/>
          </a:xfrm>
          <a:prstGeom prst="roundRect">
            <a:avLst>
              <a:gd name="adj" fmla="val 2985"/>
            </a:avLst>
          </a:prstGeom>
          <a:solidFill>
            <a:srgbClr val="F0ECFB"/>
          </a:solidFill>
          <a:ln w="9525">
            <a:solidFill>
              <a:srgbClr val="CFC8EA"/>
            </a:solidFill>
            <a:prstDash val="solid"/>
          </a:ln>
        </p:spPr>
      </p:sp>
      <p:sp>
        <p:nvSpPr>
          <p:cNvPr id="7" name="codeL"/>
          <p:cNvSpPr txBox="1"/>
          <p:nvPr/>
        </p:nvSpPr>
        <p:spPr>
          <a:xfrm>
            <a:off x="548640" y="105156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Initialize and calculate product matrix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m;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j = 0; j &lt; p; j++)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C[i][j]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k = 0; k &lt; n; k++)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C[i][j] += A[i][k] * B[k][j];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</p:txBody>
      </p:sp>
      <p:sp>
        <p:nvSpPr>
          <p:cNvPr id="8" name="codeR_bg"/>
          <p:cNvSpPr/>
          <p:nvPr/>
        </p:nvSpPr>
        <p:spPr>
          <a:xfrm>
            <a:off x="5212080" y="978408"/>
            <a:ext cx="3474720" cy="1837944"/>
          </a:xfrm>
          <a:prstGeom prst="roundRect">
            <a:avLst>
              <a:gd name="adj" fmla="val 2985"/>
            </a:avLst>
          </a:prstGeom>
          <a:solidFill>
            <a:srgbClr val="F0ECFB"/>
          </a:solidFill>
          <a:ln w="9525">
            <a:solidFill>
              <a:srgbClr val="CFC8EA"/>
            </a:solidFill>
            <a:prstDash val="solid"/>
          </a:ln>
        </p:spPr>
      </p:sp>
      <p:sp>
        <p:nvSpPr>
          <p:cNvPr id="9" name="codeR"/>
          <p:cNvSpPr txBox="1"/>
          <p:nvPr/>
        </p:nvSpPr>
        <p:spPr>
          <a:xfrm>
            <a:off x="5303520" y="105156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Display result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m;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j = 0; j &lt; p; j++)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printf("%d ", C[i][j]);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printf("\n");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core"/>
          <p:cNvSpPr txBox="1"/>
          <p:nvPr/>
        </p:nvSpPr>
        <p:spPr>
          <a:xfrm>
            <a:off x="548640" y="3063240"/>
            <a:ext cx="8046720" cy="54864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C[i][j] += A[i][k] * B[k][j];</a:t>
            </a:r>
            <a:endParaRPr lang="en-US" sz="2200" dirty="0"/>
          </a:p>
        </p:txBody>
      </p:sp>
      <p:sp>
        <p:nvSpPr>
          <p:cNvPr id="11" name="coreNote"/>
          <p:cNvSpPr txBox="1"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A[i][k]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row i of A   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B[k][j]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column j of B    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along columns of A and rows of B    += adds the product to the running sum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Loops and Trace of C[0][0]</a:t>
            </a:r>
            <a:endParaRPr lang="en-US" sz="2600" dirty="0"/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Tanishq Patel  |  26070521506</a:t>
            </a:r>
            <a:endParaRPr lang="en-US" sz="900" dirty="0"/>
          </a:p>
        </p:txBody>
      </p:sp>
      <p:sp>
        <p:nvSpPr>
          <p:cNvPr id="5" name="pageno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6" name="loop0"/>
          <p:cNvSpPr txBox="1"/>
          <p:nvPr/>
        </p:nvSpPr>
        <p:spPr>
          <a:xfrm>
            <a:off x="457200" y="1005840"/>
            <a:ext cx="201168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(0 … m-1)</a:t>
            </a:r>
            <a:endParaRPr lang="en-US" sz="1300" dirty="0"/>
          </a:p>
        </p:txBody>
      </p:sp>
      <p:sp>
        <p:nvSpPr>
          <p:cNvPr id="7" name="loopn0"/>
          <p:cNvSpPr txBox="1"/>
          <p:nvPr/>
        </p:nvSpPr>
        <p:spPr>
          <a:xfrm>
            <a:off x="269748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row of A and C</a:t>
            </a:r>
            <a:endParaRPr lang="en-US" sz="1200" dirty="0"/>
          </a:p>
        </p:txBody>
      </p:sp>
      <p:sp>
        <p:nvSpPr>
          <p:cNvPr id="8" name="loop1"/>
          <p:cNvSpPr txBox="1"/>
          <p:nvPr/>
        </p:nvSpPr>
        <p:spPr>
          <a:xfrm>
            <a:off x="731520" y="1664208"/>
            <a:ext cx="201168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 (0 … p-1)</a:t>
            </a:r>
            <a:endParaRPr lang="en-US" sz="1300" dirty="0"/>
          </a:p>
        </p:txBody>
      </p:sp>
      <p:sp>
        <p:nvSpPr>
          <p:cNvPr id="9" name="loopn1"/>
          <p:cNvSpPr txBox="1"/>
          <p:nvPr/>
        </p:nvSpPr>
        <p:spPr>
          <a:xfrm>
            <a:off x="2971800" y="1755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column of B and C</a:t>
            </a:r>
            <a:endParaRPr lang="en-US" sz="1200" dirty="0"/>
          </a:p>
        </p:txBody>
      </p:sp>
      <p:sp>
        <p:nvSpPr>
          <p:cNvPr id="10" name="loop2"/>
          <p:cNvSpPr txBox="1"/>
          <p:nvPr/>
        </p:nvSpPr>
        <p:spPr>
          <a:xfrm>
            <a:off x="1005840" y="2322576"/>
            <a:ext cx="201168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 (0 … n-1)</a:t>
            </a:r>
            <a:endParaRPr lang="en-US" sz="1300" dirty="0"/>
          </a:p>
        </p:txBody>
      </p:sp>
      <p:sp>
        <p:nvSpPr>
          <p:cNvPr id="11" name="loopn2"/>
          <p:cNvSpPr txBox="1"/>
          <p:nvPr/>
        </p:nvSpPr>
        <p:spPr>
          <a:xfrm>
            <a:off x="3246120" y="24140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dimension: multiply and sum</a:t>
            </a:r>
            <a:endParaRPr lang="en-US" sz="1200" dirty="0"/>
          </a:p>
        </p:txBody>
      </p:sp>
      <p:sp>
        <p:nvSpPr>
          <p:cNvPr id="12" name="why"/>
          <p:cNvSpPr txBox="1"/>
          <p:nvPr/>
        </p:nvSpPr>
        <p:spPr>
          <a:xfrm>
            <a:off x="457200" y="30632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of A × Column of B → one element of C. Repeated for every position in C.</a:t>
            </a:r>
            <a:endParaRPr lang="en-US" sz="1200" dirty="0"/>
          </a:p>
        </p:txBody>
      </p:sp>
      <p:sp>
        <p:nvSpPr>
          <p:cNvPr id="13" name="trace_bg"/>
          <p:cNvSpPr/>
          <p:nvPr/>
        </p:nvSpPr>
        <p:spPr>
          <a:xfrm>
            <a:off x="5852160" y="978408"/>
            <a:ext cx="2926080" cy="2157984"/>
          </a:xfrm>
          <a:prstGeom prst="roundRect">
            <a:avLst>
              <a:gd name="adj" fmla="val 2542"/>
            </a:avLst>
          </a:prstGeom>
          <a:solidFill>
            <a:srgbClr val="F0ECFB"/>
          </a:solidFill>
          <a:ln w="9525">
            <a:solidFill>
              <a:srgbClr val="CFC8EA"/>
            </a:solidFill>
            <a:prstDash val="solid"/>
          </a:ln>
        </p:spPr>
      </p:sp>
      <p:sp>
        <p:nvSpPr>
          <p:cNvPr id="14" name="trace"/>
          <p:cNvSpPr txBox="1"/>
          <p:nvPr/>
        </p:nvSpPr>
        <p:spPr>
          <a:xfrm>
            <a:off x="5943600" y="10515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i=0, j=0  (C[0][0] = 0 initially)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k=0: += A[0][0]*B[0][0] = 1*7  →  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k=1: += A[0][1]*B[1][0] = 2*9  → 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k=2: += A[0][2]*B[2][0] = 3*11 → 58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Final: C[0][0] = 58</a:t>
            </a:r>
            <a:endParaRPr lang="en-US" sz="950" dirty="0"/>
          </a:p>
        </p:txBody>
      </p:sp>
      <p:sp>
        <p:nvSpPr>
          <p:cNvPr id="15" name="cx"/>
          <p:cNvSpPr txBox="1"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O(m × n × p)   →   O(n³) for square matrices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Conclusion</a:t>
            </a:r>
            <a:endParaRPr lang="en-US" sz="2600" dirty="0"/>
          </a:p>
        </p:txBody>
      </p:sp>
      <p:sp>
        <p:nvSpPr>
          <p:cNvPr id="4" name="footer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Tanishq Patel  |  26070521506</a:t>
            </a:r>
            <a:endParaRPr lang="en-US" sz="900" dirty="0"/>
          </a:p>
        </p:txBody>
      </p:sp>
      <p:sp>
        <p:nvSpPr>
          <p:cNvPr id="5" name="pageno"/>
          <p:cNvSpPr txBox="1"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6" name="body"/>
          <p:cNvSpPr txBox="1"/>
          <p:nvPr/>
        </p:nvSpPr>
        <p:spPr>
          <a:xfrm>
            <a:off x="457200" y="96012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Row-by-column rule; each result element is a sum of products.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of A = rows of B;  (m × n) × (n × p) = (m × p).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 represent matrices; three nested loops compute C.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C[i][j] += A[i][k] * B[k][j];  set C[i][j] = 0 first.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O(mnp), or O(n³) for square matrices.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mistakes: skipping the dimension check, mixing i/j/k, wrong loop limits, forgetting C[i][j] = 0.</a:t>
            </a:r>
            <a:endParaRPr lang="en-US" sz="1400" dirty="0"/>
          </a:p>
        </p:txBody>
      </p:sp>
      <p:sp>
        <p:nvSpPr>
          <p:cNvPr id="7" name="flow0"/>
          <p:cNvSpPr txBox="1"/>
          <p:nvPr/>
        </p:nvSpPr>
        <p:spPr>
          <a:xfrm>
            <a:off x="457200" y="3429000"/>
            <a:ext cx="22860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concept</a:t>
            </a:r>
            <a:endParaRPr lang="en-US" sz="1400" dirty="0"/>
          </a:p>
        </p:txBody>
      </p:sp>
      <p:sp>
        <p:nvSpPr>
          <p:cNvPr id="8" name="arr0"/>
          <p:cNvSpPr txBox="1"/>
          <p:nvPr/>
        </p:nvSpPr>
        <p:spPr>
          <a:xfrm>
            <a:off x="2743200" y="34564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flow1"/>
          <p:cNvSpPr txBox="1"/>
          <p:nvPr/>
        </p:nvSpPr>
        <p:spPr>
          <a:xfrm>
            <a:off x="3291840" y="3429000"/>
            <a:ext cx="228600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10" name="arr1"/>
          <p:cNvSpPr txBox="1"/>
          <p:nvPr/>
        </p:nvSpPr>
        <p:spPr>
          <a:xfrm>
            <a:off x="5577840" y="34564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flow2"/>
          <p:cNvSpPr txBox="1"/>
          <p:nvPr/>
        </p:nvSpPr>
        <p:spPr>
          <a:xfrm>
            <a:off x="6126480" y="3429000"/>
            <a:ext cx="22860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implementation</a:t>
            </a:r>
            <a:endParaRPr lang="en-US" sz="1400" dirty="0"/>
          </a:p>
        </p:txBody>
      </p:sp>
      <p:sp>
        <p:nvSpPr>
          <p:cNvPr id="12" name="concl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 combines a mathematical row-by-column operation with nested-loop logic in programming.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Matrix Multiplication</dc:title>
  <dc:subject>PptxGenJS Presentation</dc:subject>
  <dc:creator>Tanishq Patel</dc:creator>
  <cp:lastModifiedBy>Tanishq Patel</cp:lastModifiedBy>
  <cp:revision>1</cp:revision>
  <dcterms:created xsi:type="dcterms:W3CDTF">2026-10-05T10:13:37Z</dcterms:created>
  <dcterms:modified xsi:type="dcterms:W3CDTF">2026-10-05T10:13:37Z</dcterms:modified>
</cp:coreProperties>
</file>